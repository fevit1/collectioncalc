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7931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spc="3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ideabyhuman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793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AI Builder Ecosystem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1520" y="27432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idea. AI execution. Blockchain-protected IP. Bitcoin-native payments.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42062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Mike Berry  |  Founder  |  February 2026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7931A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Opportunity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2560320" cy="228600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55448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793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100M+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246888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now use AI tools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build software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0" y="1371600"/>
            <a:ext cx="2560320" cy="228600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0" y="155448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58A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$0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3383280" y="246888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exists to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their IP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43600" y="1371600"/>
            <a:ext cx="2560320" cy="228600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0" y="155448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FB9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6126480" y="246888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 celebrate the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behind the AI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40233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79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class of builders is emerging. They need infrastructure.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ideabyhuman?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7931A"/>
                </a:solidFill>
              </a:rPr>
              <a:t>A curated showcase platform</a:t>
            </a:r>
            <a:endParaRPr lang="en-US" sz="1800" dirty="0"/>
          </a:p>
          <a:p>
            <a:pPr indent="0" marL="0">
              <a:buNone/>
            </a:pPr>
            <a:r>
              <a:rPr lang="en-US" sz="1600" dirty="0">
                <a:solidFill>
                  <a:srgbClr val="C9D1D9"/>
                </a:solidFill>
              </a:rPr>
              <a:t>for projects where humans had the idea and AI helped build it.</a:t>
            </a:r>
            <a:endParaRPr lang="en-US" sz="18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
</a:t>
            </a:r>
            <a:endParaRPr lang="en-US" sz="1800" dirty="0"/>
          </a:p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</a:rPr>
              <a:t>Story-first. AI-tool agnostic. Quality-curated.</a:t>
            </a:r>
            <a:endParaRPr lang="en-US" sz="18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
</a:t>
            </a:r>
            <a:endParaRPr lang="en-US" sz="1800" dirty="0"/>
          </a:p>
          <a:p>
            <a:pPr indent="0" marL="0">
              <a:buNone/>
            </a:pPr>
            <a:r>
              <a:rPr lang="en-US" sz="1400" b="1" dirty="0">
                <a:solidFill>
                  <a:srgbClr val="58A6FF"/>
                </a:solidFill>
              </a:rPr>
              <a:t>NOT </a:t>
            </a:r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</a:rPr>
              <a:t>"Look what AI can do"</a:t>
            </a:r>
            <a:endParaRPr lang="en-US" sz="1800" dirty="0"/>
          </a:p>
          <a:p>
            <a:pPr indent="0" marL="0">
              <a:buNone/>
            </a:pPr>
            <a:r>
              <a:rPr lang="en-US" sz="1400" b="1" dirty="0">
                <a:solidFill>
                  <a:srgbClr val="3FB950"/>
                </a:solidFill>
              </a:rPr>
              <a:t>YES </a:t>
            </a:r>
            <a:pPr indent="0" marL="0">
              <a:buNone/>
            </a:pPr>
            <a:r>
              <a:rPr lang="en-US" sz="1400" dirty="0">
                <a:solidFill>
                  <a:srgbClr val="C9D1D9"/>
                </a:solidFill>
              </a:rPr>
              <a:t>"Look what YOU can do with AI"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303520" y="1188720"/>
            <a:ext cx="3383280" cy="320040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669280" y="14630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Invitation-based quality control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40680" y="1572768"/>
            <a:ext cx="137160" cy="137160"/>
          </a:xfrm>
          <a:prstGeom prst="ellipse">
            <a:avLst/>
          </a:prstGeom>
          <a:solidFill>
            <a:srgbClr val="F7931A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0" y="20116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Compelling build stories required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40680" y="2121408"/>
            <a:ext cx="137160" cy="137160"/>
          </a:xfrm>
          <a:prstGeom prst="ellipse">
            <a:avLst/>
          </a:prstGeom>
          <a:solidFill>
            <a:srgbClr val="F7931A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0" y="25603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Live/working projects only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40680" y="2670048"/>
            <a:ext cx="137160" cy="137160"/>
          </a:xfrm>
          <a:prstGeom prst="ellipse">
            <a:avLst/>
          </a:prstGeom>
          <a:solidFill>
            <a:srgbClr val="F7931A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0" y="31089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 credited as visionary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40680" y="3218688"/>
            <a:ext cx="137160" cy="137160"/>
          </a:xfrm>
          <a:prstGeom prst="ellipse">
            <a:avLst/>
          </a:prstGeom>
          <a:solidFill>
            <a:srgbClr val="F7931A"/>
          </a:solidFill>
          <a:ln/>
        </p:spPr>
      </p:sp>
      <p:sp>
        <p:nvSpPr>
          <p:cNvPr id="13" name="Text 11"/>
          <p:cNvSpPr/>
          <p:nvPr/>
        </p:nvSpPr>
        <p:spPr>
          <a:xfrm>
            <a:off x="5669280" y="36576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AI tools welcome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40680" y="3767328"/>
            <a:ext cx="137160" cy="137160"/>
          </a:xfrm>
          <a:prstGeom prst="ellipse">
            <a:avLst/>
          </a:prstGeom>
          <a:solidFill>
            <a:srgbClr val="F7931A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Bigger Vision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ideabyhuman is the front door to a blockchain-based IP ecosystem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1463040"/>
            <a:ext cx="1920240" cy="237744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463040"/>
            <a:ext cx="1920240" cy="54864"/>
          </a:xfrm>
          <a:prstGeom prst="rect">
            <a:avLst/>
          </a:prstGeom>
          <a:solidFill>
            <a:srgbClr val="F7931A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645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793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11480" y="21031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SHOWCASE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246888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Builders submit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AI-built projects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build stories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194560" y="228600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7931A"/>
                </a:solidFill>
              </a:rPr>
              <a:t>▶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514600" y="1463040"/>
            <a:ext cx="1920240" cy="237744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14600" y="1463040"/>
            <a:ext cx="1920240" cy="54864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12" name="Text 10"/>
          <p:cNvSpPr/>
          <p:nvPr/>
        </p:nvSpPr>
        <p:spPr>
          <a:xfrm>
            <a:off x="2606040" y="1645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8A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651760" y="21031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REGISTER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651760" y="246888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automatically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434840" y="228600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7931A"/>
                </a:solidFill>
              </a:rPr>
              <a:t>▶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754880" y="1463040"/>
            <a:ext cx="1920240" cy="237744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1463040"/>
            <a:ext cx="1920240" cy="54864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0" y="1645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FB9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4892040" y="21031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LICENSE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92040" y="246888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negotiate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provisional patent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&amp; licensing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675120" y="228600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7931A"/>
                </a:solidFill>
              </a:rPr>
              <a:t>▶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995160" y="1463040"/>
            <a:ext cx="1920240" cy="237744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995160" y="1463040"/>
            <a:ext cx="1920240" cy="54864"/>
          </a:xfrm>
          <a:prstGeom prst="rect">
            <a:avLst/>
          </a:prstGeom>
          <a:solidFill>
            <a:srgbClr val="FFAD42"/>
          </a:solidFill>
          <a:ln/>
        </p:spPr>
      </p:sp>
      <p:sp>
        <p:nvSpPr>
          <p:cNvPr id="24" name="Text 22"/>
          <p:cNvSpPr/>
          <p:nvPr/>
        </p:nvSpPr>
        <p:spPr>
          <a:xfrm>
            <a:off x="7086600" y="1645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AD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7132320" y="21031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TRANSACT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132320" y="246888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Bitcoin-native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for all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licensing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31520" y="41148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F79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transaction spreads Bitcoin adoption organically through real economic activity.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Bitcoin is Native to This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298448"/>
            <a:ext cx="164592" cy="164592"/>
          </a:xfrm>
          <a:prstGeom prst="ellipse">
            <a:avLst/>
          </a:prstGeom>
          <a:solidFill>
            <a:srgbClr val="F7931A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11887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Global from Day One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" y="150876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builders are everywhere. Bitcoin is the only payment rail that works across every border without intermediaries.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2212848"/>
            <a:ext cx="164592" cy="164592"/>
          </a:xfrm>
          <a:prstGeom prst="ellipse">
            <a:avLst/>
          </a:prstGeom>
          <a:solidFill>
            <a:srgbClr val="58A6FF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21031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Micropayment-Ready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0" y="242316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Lightning Network enables fractional licensing payments. An AI agent in Tokyo can pay $0.02 to license a pattern from a builder in Brazil, instantly.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3127248"/>
            <a:ext cx="164592" cy="164592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30175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Immutable IP Registry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" y="333756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timestamps prove when an idea was registered. No patent office required. Hashcash-style proof-of-work secures the record.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4041648"/>
            <a:ext cx="164592" cy="164592"/>
          </a:xfrm>
          <a:prstGeom prst="ellipse">
            <a:avLst/>
          </a:prstGeom>
          <a:solidFill>
            <a:srgbClr val="FFAD42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3931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Organic Adoption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97280" y="425196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licensing transaction = a Bitcoin transaction. Builders who never held Bitcoin become Bitcoin users through necessity, not ideology.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Incubator Play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79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 Combinator for AI-built platforms"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3931920" cy="301752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6002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793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FUNNEL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14400" y="2057400"/>
            <a:ext cx="3291840" cy="347472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05740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Thousands submit to ideabyhuman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097280" y="2514600"/>
            <a:ext cx="2926080" cy="347472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251460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Hundreds get showcased (quality bar)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280160" y="2971800"/>
            <a:ext cx="2560320" cy="347472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11" name="Text 9"/>
          <p:cNvSpPr/>
          <p:nvPr/>
        </p:nvSpPr>
        <p:spPr>
          <a:xfrm>
            <a:off x="1280160" y="297180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Dozens show real traction on platform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463040" y="3429000"/>
            <a:ext cx="2194560" cy="347472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13" name="Text 11"/>
          <p:cNvSpPr/>
          <p:nvPr/>
        </p:nvSpPr>
        <p:spPr>
          <a:xfrm>
            <a:off x="1463040" y="342900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79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5-10 selected per cohort for incubator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645920" y="3886200"/>
            <a:ext cx="1828800" cy="347472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15" name="Text 13"/>
          <p:cNvSpPr/>
          <p:nvPr/>
        </p:nvSpPr>
        <p:spPr>
          <a:xfrm>
            <a:off x="1645920" y="388620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Funded + mentored + Bitcoin-native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1463040"/>
            <a:ext cx="3931920" cy="301752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937760" y="16002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793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 ADVANTAGE OVER YC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029200" y="2194560"/>
            <a:ext cx="109728" cy="109728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19" name="Text 17"/>
          <p:cNvSpPr/>
          <p:nvPr/>
        </p:nvSpPr>
        <p:spPr>
          <a:xfrm>
            <a:off x="5303520" y="21031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Applicants are pre-filtered: live, working products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0" y="2651760"/>
            <a:ext cx="109728" cy="109728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21" name="Text 19"/>
          <p:cNvSpPr/>
          <p:nvPr/>
        </p:nvSpPr>
        <p:spPr>
          <a:xfrm>
            <a:off x="5303520" y="25603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data from the platform itself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29200" y="3108960"/>
            <a:ext cx="109728" cy="109728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23" name="Text 21"/>
          <p:cNvSpPr/>
          <p:nvPr/>
        </p:nvSpPr>
        <p:spPr>
          <a:xfrm>
            <a:off x="5303520" y="30175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stories prove execution capability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29200" y="3566160"/>
            <a:ext cx="109728" cy="109728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25" name="Text 23"/>
          <p:cNvSpPr/>
          <p:nvPr/>
        </p:nvSpPr>
        <p:spPr>
          <a:xfrm>
            <a:off x="5303520" y="34747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Bitcoin-native from day one (not retro-fitted)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029200" y="4023360"/>
            <a:ext cx="109728" cy="109728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27" name="Text 25"/>
          <p:cNvSpPr/>
          <p:nvPr/>
        </p:nvSpPr>
        <p:spPr>
          <a:xfrm>
            <a:off x="5303520" y="39319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capital needed: AI reduces build costs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Proof of Concept: Slab Worthy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flagship example — a comic book grading &amp; theft protection platform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1828800" cy="118872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5544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793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47+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21488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build sessions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606040" y="1463040"/>
            <a:ext cx="1828800" cy="118872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606040" y="15544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58A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1.6B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2606040" y="21488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processed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463040"/>
            <a:ext cx="1828800" cy="118872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54880" y="15544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FB9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4754880" y="21488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director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903720" y="1463040"/>
            <a:ext cx="1828800" cy="118872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903720" y="15544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AD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903720" y="21488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coded manually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292608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93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it does: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22960" y="3401568"/>
            <a:ext cx="91440" cy="91440"/>
          </a:xfrm>
          <a:prstGeom prst="ellipse">
            <a:avLst/>
          </a:prstGeom>
          <a:solidFill>
            <a:srgbClr val="58A6FF"/>
          </a:solidFill>
          <a:ln/>
        </p:spPr>
      </p:sp>
      <p:sp>
        <p:nvSpPr>
          <p:cNvPr id="18" name="Text 16"/>
          <p:cNvSpPr/>
          <p:nvPr/>
        </p:nvSpPr>
        <p:spPr>
          <a:xfrm>
            <a:off x="1051560" y="32918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comic book grading with computer vision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22960" y="3721608"/>
            <a:ext cx="91440" cy="91440"/>
          </a:xfrm>
          <a:prstGeom prst="ellipse">
            <a:avLst/>
          </a:prstGeom>
          <a:solidFill>
            <a:srgbClr val="58A6FF"/>
          </a:solidFill>
          <a:ln/>
        </p:spPr>
      </p:sp>
      <p:sp>
        <p:nvSpPr>
          <p:cNvPr id="20" name="Text 18"/>
          <p:cNvSpPr/>
          <p:nvPr/>
        </p:nvSpPr>
        <p:spPr>
          <a:xfrm>
            <a:off x="1051560" y="36118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Perceptual fingerprinting for theft detection (Slab Guard)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22960" y="4041648"/>
            <a:ext cx="91440" cy="91440"/>
          </a:xfrm>
          <a:prstGeom prst="ellipse">
            <a:avLst/>
          </a:prstGeom>
          <a:solidFill>
            <a:srgbClr val="58A6FF"/>
          </a:solidFill>
          <a:ln/>
        </p:spPr>
      </p:sp>
      <p:sp>
        <p:nvSpPr>
          <p:cNvPr id="22" name="Text 20"/>
          <p:cNvSpPr/>
          <p:nvPr/>
        </p:nvSpPr>
        <p:spPr>
          <a:xfrm>
            <a:off x="1051560" y="3931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Edge-strip hashing identifies specific physical copies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22960" y="4361688"/>
            <a:ext cx="91440" cy="91440"/>
          </a:xfrm>
          <a:prstGeom prst="ellipse">
            <a:avLst/>
          </a:prstGeom>
          <a:solidFill>
            <a:srgbClr val="58A6FF"/>
          </a:solidFill>
          <a:ln/>
        </p:spPr>
      </p:sp>
      <p:sp>
        <p:nvSpPr>
          <p:cNvPr id="24" name="Text 22"/>
          <p:cNvSpPr/>
          <p:nvPr/>
        </p:nvSpPr>
        <p:spPr>
          <a:xfrm>
            <a:off x="1051560" y="42519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 extension monitors eBay for stolen comics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22960" y="4681728"/>
            <a:ext cx="91440" cy="91440"/>
          </a:xfrm>
          <a:prstGeom prst="ellipse">
            <a:avLst/>
          </a:prstGeom>
          <a:solidFill>
            <a:srgbClr val="58A6FF"/>
          </a:solidFill>
          <a:ln/>
        </p:spPr>
      </p:sp>
      <p:sp>
        <p:nvSpPr>
          <p:cNvPr id="26" name="Text 24"/>
          <p:cNvSpPr/>
          <p:nvPr/>
        </p:nvSpPr>
        <p:spPr>
          <a:xfrm>
            <a:off x="1051560" y="45720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entirely through human-AI collaboration with Claude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Market &amp; Business Model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329184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188720"/>
            <a:ext cx="3931920" cy="54864"/>
          </a:xfrm>
          <a:prstGeom prst="rect">
            <a:avLst/>
          </a:prstGeom>
          <a:solidFill>
            <a:srgbClr val="F7931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716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793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MARKET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82880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coding tools: $15B+ market by 2028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233172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50M+ developers using AI assistants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83464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Non-developers building with AI exploding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333756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IP protection infrastructure exists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384048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market = global payment need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1188720"/>
            <a:ext cx="3931920" cy="329184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188720"/>
            <a:ext cx="3931920" cy="54864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13716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58A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REVENUE STREAMS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120640" y="182880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A6FF"/>
                </a:solidFill>
              </a:rPr>
              <a:t>Phase 1: </a:t>
            </a:r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</a:rPr>
              <a:t>Platform is free, build community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120640" y="233172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A6FF"/>
                </a:solidFill>
              </a:rPr>
              <a:t>Phase 2: </a:t>
            </a:r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</a:rPr>
              <a:t>IP registration fees (Bitcoin)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120640" y="283464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A6FF"/>
                </a:solidFill>
              </a:rPr>
              <a:t>Phase 3: </a:t>
            </a:r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</a:rPr>
              <a:t>Licensing transaction fees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120640" y="333756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A6FF"/>
                </a:solidFill>
              </a:rPr>
              <a:t>Phase 4: </a:t>
            </a:r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</a:rPr>
              <a:t>Incubator equity stakes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120640" y="384048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A6FF"/>
                </a:solidFill>
              </a:rPr>
              <a:t>Long-term: </a:t>
            </a:r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</a:rPr>
              <a:t>AI agent marketplace fees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Team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560320" cy="274320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188720"/>
            <a:ext cx="2560320" cy="54864"/>
          </a:xfrm>
          <a:prstGeom prst="rect">
            <a:avLst/>
          </a:prstGeom>
          <a:solidFill>
            <a:srgbClr val="F7931A"/>
          </a:solidFill>
          <a:ln/>
        </p:spPr>
      </p:sp>
      <p:sp>
        <p:nvSpPr>
          <p:cNvPr id="5" name="Shape 3"/>
          <p:cNvSpPr/>
          <p:nvPr/>
        </p:nvSpPr>
        <p:spPr>
          <a:xfrm>
            <a:off x="1325880" y="1463040"/>
            <a:ext cx="822960" cy="822960"/>
          </a:xfrm>
          <a:prstGeom prst="ellipse">
            <a:avLst/>
          </a:prstGeom>
          <a:solidFill>
            <a:srgbClr val="1C2333"/>
          </a:solidFill>
          <a:ln w="25400">
            <a:solidFill>
              <a:srgbClr val="F793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3774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Mike Berry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6974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79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&amp; Product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301752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director for AI-built platforms. Built Slab Worthy through 47+ sessions directing Claude. Proves the model works.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0" y="1188720"/>
            <a:ext cx="2560320" cy="274320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188720"/>
            <a:ext cx="2560320" cy="54864"/>
          </a:xfrm>
          <a:prstGeom prst="rect">
            <a:avLst/>
          </a:prstGeom>
          <a:solidFill>
            <a:srgbClr val="F7931A"/>
          </a:solidFill>
          <a:ln/>
        </p:spPr>
      </p:sp>
      <p:sp>
        <p:nvSpPr>
          <p:cNvPr id="11" name="Shape 9"/>
          <p:cNvSpPr/>
          <p:nvPr/>
        </p:nvSpPr>
        <p:spPr>
          <a:xfrm>
            <a:off x="4069080" y="1463040"/>
            <a:ext cx="822960" cy="822960"/>
          </a:xfrm>
          <a:prstGeom prst="ellipse">
            <a:avLst/>
          </a:prstGeom>
          <a:solidFill>
            <a:srgbClr val="1C2333"/>
          </a:solidFill>
          <a:ln w="25400">
            <a:solidFill>
              <a:srgbClr val="F793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23774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Co-Founder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383280" y="26974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79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Front-End Engineering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83280" y="301752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showcase platform, submission flows, and public-facing gallery. Modern React/Next.js stack.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0" y="1188720"/>
            <a:ext cx="2560320" cy="274320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943600" y="1188720"/>
            <a:ext cx="2560320" cy="54864"/>
          </a:xfrm>
          <a:prstGeom prst="rect">
            <a:avLst/>
          </a:prstGeom>
          <a:solidFill>
            <a:srgbClr val="F7931A"/>
          </a:solidFill>
          <a:ln/>
        </p:spPr>
      </p:sp>
      <p:sp>
        <p:nvSpPr>
          <p:cNvPr id="17" name="Shape 15"/>
          <p:cNvSpPr/>
          <p:nvPr/>
        </p:nvSpPr>
        <p:spPr>
          <a:xfrm>
            <a:off x="6812280" y="1463040"/>
            <a:ext cx="822960" cy="822960"/>
          </a:xfrm>
          <a:prstGeom prst="ellipse">
            <a:avLst/>
          </a:prstGeom>
          <a:solidFill>
            <a:srgbClr val="1C2333"/>
          </a:solidFill>
          <a:ln w="25400">
            <a:solidFill>
              <a:srgbClr val="F793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0" y="23774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Team Member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126480" y="26974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79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QA, Content &amp; Community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126480" y="301752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content curation, review dashboard, testing, and community outreach. Building launch pipeline.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7931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Conversation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ideabyhuman fits within the Bitcoin adoption mission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8229600" cy="82296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645920"/>
            <a:ext cx="54864" cy="822960"/>
          </a:xfrm>
          <a:prstGeom prst="rect">
            <a:avLst/>
          </a:prstGeom>
          <a:solidFill>
            <a:srgbClr val="F7931A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69164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793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Bitcoin as the payment layer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011680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IP licensing transaction is a Bitcoin transaction. Lightning Network enables micropayments globally. Real utility, not speculation.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651760"/>
            <a:ext cx="8229600" cy="82296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651760"/>
            <a:ext cx="54864" cy="822960"/>
          </a:xfrm>
          <a:prstGeom prst="rect">
            <a:avLst/>
          </a:prstGeom>
          <a:solidFill>
            <a:srgbClr val="F7931A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69748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793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Organic adoption at scale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2960" y="3017520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Builders who never held Bitcoin become users through the platform. They earn Bitcoin for their IP, spend it to license others'. Natural flywheel.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657600"/>
            <a:ext cx="8229600" cy="82296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657600"/>
            <a:ext cx="54864" cy="822960"/>
          </a:xfrm>
          <a:prstGeom prst="rect">
            <a:avLst/>
          </a:prstGeom>
          <a:solidFill>
            <a:srgbClr val="F7931A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70332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793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Infrastructure, not hype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2960" y="4023360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building the rails for a new economy of AI-created IP. Bitcoin is the settlement layer. This is infrastructure that lasts.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7931A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45720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mike@ideabyhuman.com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IdeaByHuman - Investor Overview</dc:title>
  <dc:subject>PptxGenJS Presentation</dc:subject>
  <dc:creator>Mike Berry</dc:creator>
  <cp:lastModifiedBy>Mike Berry</cp:lastModifiedBy>
  <cp:revision>1</cp:revision>
  <dcterms:created xsi:type="dcterms:W3CDTF">2026-02-18T00:53:32Z</dcterms:created>
  <dcterms:modified xsi:type="dcterms:W3CDTF">2026-02-18T00:53:32Z</dcterms:modified>
</cp:coreProperties>
</file>